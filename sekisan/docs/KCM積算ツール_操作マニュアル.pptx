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2402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KCM積算ツール</a:t>
            </a:r>
            <a:endParaRPr lang="en-US" sz="5000" dirty="0"/>
          </a:p>
        </p:txBody>
      </p:sp>
      <p:sp>
        <p:nvSpPr>
          <p:cNvPr id="3" name="Text 1"/>
          <p:cNvSpPr txBox="1"/>
          <p:nvPr/>
        </p:nvSpPr>
        <p:spPr>
          <a:xfrm>
            <a:off x="841248" y="32918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CADCF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操作マニュアル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41248" y="40690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新土木工事積算システムの入力データリストから帳票を自動作成する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41248" y="58064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第1.0版　2026年9月　　株式会社カイカ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はじめに　―　できること・作業の流れ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1152144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515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本ツールは、新土積システムが出力する「入力データリスト」を読み込み、設計積算条件リスト・数量総括表・交通誘導員集計・チェック結果を自動作成します。確認・入力はブラウザ上で行い、最終帳票をExcelで出力します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3611880" cy="1325880"/>
          </a:xfrm>
          <a:prstGeom prst="roundRect">
            <a:avLst>
              <a:gd name="adj" fmla="val 5517"/>
            </a:avLst>
          </a:prstGeom>
          <a:solidFill>
            <a:srgbClr val="F4F6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21214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STEP 1　読み込む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523744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新土積システムから印刷した入力データリスト(PDF)をドラッグ＆ドロップ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160520" y="24688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F6AB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▶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34840" y="1965960"/>
            <a:ext cx="3611880" cy="1325880"/>
          </a:xfrm>
          <a:prstGeom prst="roundRect">
            <a:avLst>
              <a:gd name="adj" fmla="val 5517"/>
            </a:avLst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36008" y="21214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STEP 2　確認・入力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636008" y="2523744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色付き箇所を確認・入力（残件数が0になるまで）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8046720" y="24688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F6AB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▶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321040" y="1965960"/>
            <a:ext cx="3611880" cy="1325880"/>
          </a:xfrm>
          <a:prstGeom prst="roundRect">
            <a:avLst>
              <a:gd name="adj" fmla="val 5517"/>
            </a:avLst>
          </a:prstGeom>
          <a:solidFill>
            <a:srgbClr val="F4F6F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522208" y="21214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STEP 3　出力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522208" y="2523744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Excel帳票を一括出力し、通常どおり照査・提出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657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6AB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動作環境・データの取り扱い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069080"/>
            <a:ext cx="10789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ブラウザ（Microsoft Edge / Google Chrome）だけで動作します。インストールは不要です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Acrobat・DocuWorks・Excelマクロは使用しません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読み込んだデータはパソコンの中だけで処理され、外部のサーバーには一切送信されません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インターネット接続は不要です（社内サーバー上のページを開ければ動作します）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1. 入力データリストを読み込む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1152144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1000" dirty="0"/>
          </a:p>
        </p:txBody>
      </p:sp>
      <p:pic>
        <p:nvPicPr>
          <p:cNvPr id="4" name="Image 0" descr="shots/01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6675120" cy="4417359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BBBBBB">
                <a:alpha val="50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7543800" y="11430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6AB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PDFを読み込む（推奨）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7543800" y="1645920"/>
            <a:ext cx="347472" cy="347472"/>
          </a:xfrm>
          <a:prstGeom prst="ellipse">
            <a:avLst/>
          </a:prstGeom>
          <a:solidFill>
            <a:srgbClr val="0F6AB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543800" y="1645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019288" y="1591056"/>
            <a:ext cx="36393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新土積システムで入力データリストを「鏡ページ無し・STまで」でPDF印刷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543800" y="2514600"/>
            <a:ext cx="347472" cy="347472"/>
          </a:xfrm>
          <a:prstGeom prst="ellipse">
            <a:avLst/>
          </a:prstGeom>
          <a:solidFill>
            <a:srgbClr val="0F6AB4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543800" y="2514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019288" y="2459736"/>
            <a:ext cx="36393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PDFを画面中央の枠にドラッグ＆ドロップ（クリックしてファイル選択も可）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543800" y="3383280"/>
            <a:ext cx="347472" cy="347472"/>
          </a:xfrm>
          <a:prstGeom prst="ellipse">
            <a:avLst/>
          </a:prstGeom>
          <a:solidFill>
            <a:srgbClr val="0F6AB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543800" y="33832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8019288" y="3328416"/>
            <a:ext cx="36393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自動で解析され、確認・入力画面が表示されます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543800" y="4160520"/>
            <a:ext cx="4114800" cy="777240"/>
          </a:xfrm>
          <a:prstGeom prst="roundRect">
            <a:avLst>
              <a:gd name="adj" fmla="val 7059"/>
            </a:avLst>
          </a:prstGeom>
          <a:solidFill>
            <a:srgbClr val="EEF6FD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708392" y="4233672"/>
            <a:ext cx="378561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0F6AB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ポイント　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AcrobatやDocuWorksでの変換は不要です。PDFをそのまま読み込んでください。</a:t>
            </a:r>
            <a:endParaRPr lang="en-US" sz="11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43800" y="5120640"/>
          <a:ext cx="41148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74320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E276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読み込めるもの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E276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説明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43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Excel（.xlsx/.xlsm）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43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Acrobat等で変換済みのファイルも読み込み可（従来フロー互換）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43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テキスト貼り付け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43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「テキストを貼り付けて読み込む」から貼り付けて解析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43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作業ファイル（.json）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43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保存した作業を入力内容ごと復元（→ 4. 途中保存と再開）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2. 解析結果を確認する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1152144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</a:t>
            </a:r>
            <a:endParaRPr lang="en-US" sz="1000" dirty="0"/>
          </a:p>
        </p:txBody>
      </p:sp>
      <p:pic>
        <p:nvPicPr>
          <p:cNvPr id="4" name="Image 0" descr="shots/02_resu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6949440" cy="1403695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BBBBBB">
                <a:alpha val="50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7818120" y="12801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6AB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確認すること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818120" y="1737360"/>
            <a:ext cx="3840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工事名がPDFの内容と一致しているか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当初/変更の別が正しいか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工種・種別・細別の件数が極端に少なくないか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7818120" y="3474720"/>
            <a:ext cx="3840480" cy="914400"/>
          </a:xfrm>
          <a:prstGeom prst="roundRect">
            <a:avLst>
              <a:gd name="adj" fmla="val 6000"/>
            </a:avLst>
          </a:prstGeom>
          <a:solidFill>
            <a:srgbClr val="EEF6F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982712" y="3547872"/>
            <a:ext cx="35112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0F6AB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ポイント　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「行を検出できませんでした」と表示された場合は、最終ページ「こんなときは」を参照してください。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3. 設計積算条件リストの確認・入力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1152144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</a:t>
            </a:r>
            <a:endParaRPr lang="en-US" sz="1000" dirty="0"/>
          </a:p>
        </p:txBody>
      </p:sp>
      <p:pic>
        <p:nvPicPr>
          <p:cNvPr id="4" name="Image 0" descr="shots/03_edi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7680960" cy="604049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BBBBBB">
                <a:alpha val="50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8549640" y="11430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6AB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画面の見方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8549640" y="1600200"/>
            <a:ext cx="3108960" cy="1042416"/>
          </a:xfrm>
          <a:prstGeom prst="roundRect">
            <a:avLst>
              <a:gd name="adj" fmla="val 5263"/>
            </a:avLst>
          </a:prstGeom>
          <a:solidFill>
            <a:srgbClr val="F4F6F8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705088" y="1673352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残 ○件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705088" y="2002536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A647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確認・入力が必要な残り件数。0件（緑）になれば完了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549640" y="2788920"/>
            <a:ext cx="3108960" cy="1042416"/>
          </a:xfrm>
          <a:prstGeom prst="roundRect">
            <a:avLst>
              <a:gd name="adj" fmla="val 5263"/>
            </a:avLst>
          </a:prstGeom>
          <a:solidFill>
            <a:srgbClr val="F4F6F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705088" y="2862072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残件リスト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8705088" y="3191256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A647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項目をクリックすると該当行へジャンプ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8549640" y="3977640"/>
            <a:ext cx="3108960" cy="1042416"/>
          </a:xfrm>
          <a:prstGeom prst="roundRect">
            <a:avLst>
              <a:gd name="adj" fmla="val 5263"/>
            </a:avLst>
          </a:prstGeom>
          <a:solidFill>
            <a:srgbClr val="F4F6F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4050792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自動入力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705088" y="4379976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A647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内容・根拠には標準値が入力済み。必要な箇所だけ修正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549640" y="5166360"/>
            <a:ext cx="3108960" cy="1042416"/>
          </a:xfrm>
          <a:prstGeom prst="roundRect">
            <a:avLst>
              <a:gd name="adj" fmla="val 5263"/>
            </a:avLst>
          </a:prstGeom>
          <a:solidFill>
            <a:srgbClr val="F4F6F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705088" y="5239512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自動保存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8705088" y="5568696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A647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入力のたびに保存。閉じても「続きから再開」可能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3. 色の意味と作業内容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1152144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6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110642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291840"/>
                <a:gridCol w="62179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色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意味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する作業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C243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オレンジ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B08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43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市場単価（WB7〜/WB8〜）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43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夜間作業の有無を確認し、プルダウンで「○」または「－」を選択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C243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赤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3B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43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単位・単位数量の不一致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43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内容を確認し、問題なければ行末の「確認済」にチェック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C243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青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43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独自歩掛かり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43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「設計の考え方及び措置」欄に内容を入力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C243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ピンク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D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43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登録材料・処分費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43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処分場・単価の出典を入力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794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6AB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セルの編集方法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4206240"/>
            <a:ext cx="10789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「内容」「根拠又は理由」…プルダウンから選択（旧システムと同じ選択肢）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「設計の考え方及び措置」「摘要」「数量(変更)」…セルをクリックして直接入力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夜間○…一括割増率50%の項目には自動で「○」。市場単価の行のみプルダウンで選択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5623560"/>
            <a:ext cx="11064240" cy="640080"/>
          </a:xfrm>
          <a:prstGeom prst="roundRect">
            <a:avLst>
              <a:gd name="adj" fmla="val 8571"/>
            </a:avLst>
          </a:prstGeom>
          <a:solidFill>
            <a:srgbClr val="EEF6F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13232" y="5696712"/>
            <a:ext cx="107350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0F6AB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ポイント　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入力した内容は自動保存され、Excel出力にもそのまま反映されます。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4. 途中保存と再開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1152144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7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972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6AB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自動保存（何もしなくてOK）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08760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入力のたびにブラウザへ自動保存されます。誤ってページを閉じても、次に開いたときに復元バーが表示され、「続きから再開」で作業を再開できます。</a:t>
            </a:r>
            <a:endParaRPr lang="en-US" sz="1250" dirty="0"/>
          </a:p>
        </p:txBody>
      </p:sp>
      <p:pic>
        <p:nvPicPr>
          <p:cNvPr id="6" name="Image 0" descr="shots/07_rest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468880"/>
            <a:ext cx="5669280" cy="378568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BBBBBB">
                <a:alpha val="50000"/>
              </a:srgbClr>
            </a:outerShdw>
          </a:effectLst>
        </p:spPr>
      </p:pic>
      <p:sp>
        <p:nvSpPr>
          <p:cNvPr id="7" name="Text 4"/>
          <p:cNvSpPr txBox="1"/>
          <p:nvPr/>
        </p:nvSpPr>
        <p:spPr>
          <a:xfrm>
            <a:off x="6675120" y="10972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6AB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作業ファイルの保存（推奨）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675120" y="1600200"/>
            <a:ext cx="347472" cy="347472"/>
          </a:xfrm>
          <a:prstGeom prst="ellipse">
            <a:avLst/>
          </a:prstGeom>
          <a:solidFill>
            <a:srgbClr val="0F6AB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75120" y="16002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150608" y="1545336"/>
            <a:ext cx="44622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「作業ファイルを保存（.json）」を押すと案件の作業ファイルがダウンロードされます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675120" y="2514600"/>
            <a:ext cx="347472" cy="347472"/>
          </a:xfrm>
          <a:prstGeom prst="ellipse">
            <a:avLst/>
          </a:prstGeom>
          <a:solidFill>
            <a:srgbClr val="0F6AB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675120" y="2514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150608" y="2459736"/>
            <a:ext cx="44622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再開するときは、作業ファイルを読み込み枠にドラッグ＆ドロップ。入力内容ごと復元されます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675120" y="3657600"/>
            <a:ext cx="4937760" cy="1005840"/>
          </a:xfrm>
          <a:prstGeom prst="roundRect">
            <a:avLst>
              <a:gd name="adj" fmla="val 5455"/>
            </a:avLst>
          </a:prstGeom>
          <a:solidFill>
            <a:srgbClr val="EEF6F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839712" y="3730752"/>
            <a:ext cx="460857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0F6AB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ポイント　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自動保存はパソコン・ブラウザ単位です。案件フォルダへの作業ファイル保存をお勧めします。別PC・別担当者への引き継ぎにも使えます。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5. Excel帳票を出力する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1152144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8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515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「Excel帳票を出力」ボタンを押すと、次の4シートを含むExcelファイルがダウンロードされます。画面上で入力・修正した内容はすべて反映されています。</a:t>
            </a:r>
            <a:endParaRPr lang="en-US" sz="1350" dirty="0"/>
          </a:p>
        </p:txBody>
      </p:sp>
      <p:pic>
        <p:nvPicPr>
          <p:cNvPr id="5" name="Image 0" descr="shots/06_butt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6400800" cy="227682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BBBBBB">
                <a:alpha val="50000"/>
              </a:srgbClr>
            </a:outerShdw>
          </a:effectLst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2608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3210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シート</a:t>
                      </a:r>
                      <a:endParaRPr lang="en-US" sz="12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内容</a:t>
                      </a:r>
                      <a:endParaRPr lang="en-US" sz="12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43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設計積算条件リスト</a:t>
                      </a:r>
                      <a:endParaRPr lang="en-US" sz="12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43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旧Ver2.2.2と同じ様式・色分け・プルダウン付き。画面での入力を反映</a:t>
                      </a:r>
                      <a:endParaRPr lang="en-US" sz="12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43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数量総括表</a:t>
                      </a:r>
                      <a:endParaRPr lang="en-US" sz="12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43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工事区分〜細別の階層・規格・数量を転記。変更工事は当初/変更/増減の列構成</a:t>
                      </a:r>
                      <a:endParaRPr lang="en-US" sz="12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43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交通誘導員集計</a:t>
                      </a:r>
                      <a:endParaRPr lang="en-US" sz="12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43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交通誘導警備員の計上箇所の一覧</a:t>
                      </a:r>
                      <a:endParaRPr lang="en-US" sz="12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43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チェック結果</a:t>
                      </a:r>
                      <a:endParaRPr lang="en-US" sz="12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43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単位不一致などの自動チェック指摘の一覧（照査記録に利用可能）</a:t>
                      </a:r>
                      <a:endParaRPr lang="en-US" sz="12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8640" y="5806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ファイル名：「積算ツール出力_（工事名）.xlsx」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こんなときは（トラブルシューティング）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1152144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9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0664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症状</a:t>
                      </a:r>
                      <a:endParaRPr lang="en-US" sz="12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対処</a:t>
                      </a:r>
                      <a:endParaRPr lang="en-US" sz="12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43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PDFを読み込んでも行を検出できない</a:t>
                      </a:r>
                      <a:endParaRPr lang="en-US" sz="12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43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「鏡ページ無し・STまで」で印刷したPDFか確認してください。スキャンPDF（紙を読み取ったもの）は解析できません</a:t>
                      </a:r>
                      <a:endParaRPr lang="en-US" sz="12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43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工事名が「取得できず」と表示される</a:t>
                      </a:r>
                      <a:endParaRPr lang="en-US" sz="12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43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帳票は出力できます。Excel出力後に工事名欄を直接修正してください</a:t>
                      </a:r>
                      <a:endParaRPr lang="en-US" sz="12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43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数量や階層がPDFと合わない</a:t>
                      </a:r>
                      <a:endParaRPr lang="en-US" sz="12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43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該当のPDFを担当（カイカ）までご共有ください。解析ルールを改善します</a:t>
                      </a:r>
                      <a:endParaRPr lang="en-US" sz="12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43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前回の作業が復元されない</a:t>
                      </a:r>
                      <a:endParaRPr lang="en-US" sz="12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43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自動保存はパソコン・ブラウザ単位です。別PCで作業した場合は作業ファイル(.json)を読み込んでください</a:t>
                      </a:r>
                      <a:endParaRPr lang="en-US" sz="12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43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Excelを開くと保護ビューになる</a:t>
                      </a:r>
                      <a:endParaRPr lang="en-US" sz="12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43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ダウンロードしたファイルのため表示されることがあります。「編集を有効にする」を押してください</a:t>
                      </a:r>
                      <a:endParaRPr lang="en-US" sz="12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0350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その他のお問い合わせ：株式会社カイカ（高嶌）まで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2026-09-06T04:42:35Z</dcterms:created>
  <dcterms:modified xsi:type="dcterms:W3CDTF">2026-09-06T04:42:35Z</dcterms:modified>
</cp:coreProperties>
</file>