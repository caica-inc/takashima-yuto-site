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pic>
        <p:nvPicPr>
          <p:cNvPr id="3" name="Image 1" descr="/tmp/claude-0/-home-user-takashima-yuto-site/d68be841-4a50-5410-afb9-fdf52bb655ee/scratchpad/sekisan/kcm_logo_placeh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960120" cy="40325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48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452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MANUAL</a:t>
            </a:r>
            <a:endParaRPr lang="en-US" sz="1300" dirty="0"/>
          </a:p>
        </p:txBody>
      </p:sp>
      <p:sp>
        <p:nvSpPr>
          <p:cNvPr id="5" name="Shape 1"/>
          <p:cNvSpPr/>
          <p:nvPr/>
        </p:nvSpPr>
        <p:spPr>
          <a:xfrm>
            <a:off x="475488" y="3154680"/>
            <a:ext cx="5669280" cy="402336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4864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KCM積算ツール</a:t>
            </a:r>
            <a:endParaRPr lang="en-US" sz="50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3611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操作マニュアル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新土木工事積算システムの入力データリストから帳票を自動作成する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760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第1.1版　2026年9月　　株式会社カイカ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6199632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はじめに　―　できること・作業の流れ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ツールは、新土積システムが出力する「入力データリスト」を読み込み、設計積算条件リスト・数量総括表・交通誘導員集計・チェック結果を自動作成します。確認・入力はブラウザ上で行い、最終帳票をExcelで出力します。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　読み込む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237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新土積システムから印刷した入力データリスト(PDF)をドラッグ＆ドロップ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19659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04529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36008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　確認・入力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36008" y="25237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9E9F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色付き箇所を確認・入力（残件数が0になるまで）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321040" y="196596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22208" y="2121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　出力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522208" y="2523744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Excel帳票を一括出力し、通常どおり照査・提出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動作環境・データの取り扱い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0690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ブラウザ（Microsoft Edge / Google Chrome）だけで動作します。インストールは不要です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Acrobat・DocuWorks・Excelマクロは使用しません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読み込んだデータはパソコンの中だけで処理され、外部のサーバーには一切送信されません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インターネット接続は不要です（社内サーバー上のページを開ければ動作します）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5541264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入力データリストを読み込む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1" descr="shots/01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675120" cy="441735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75438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PDFを読み込む（推奨）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543800" y="1645920"/>
            <a:ext cx="347472" cy="347472"/>
          </a:xfrm>
          <a:prstGeom prst="ellipse">
            <a:avLst/>
          </a:prstGeom>
          <a:solidFill>
            <a:srgbClr val="04529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54380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19288" y="1591056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新土積システムで入力データリストを「鏡ページ無し・STまで」でPDF印刷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543800" y="2514600"/>
            <a:ext cx="347472" cy="347472"/>
          </a:xfrm>
          <a:prstGeom prst="ellipse">
            <a:avLst/>
          </a:prstGeom>
          <a:solidFill>
            <a:srgbClr val="04529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54380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019288" y="2459736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PDFを画面中央の枠にドラッグ＆ドロップ（クリックしてファイル選択も可）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543800" y="3383280"/>
            <a:ext cx="347472" cy="347472"/>
          </a:xfrm>
          <a:prstGeom prst="ellipse">
            <a:avLst/>
          </a:prstGeom>
          <a:solidFill>
            <a:srgbClr val="04529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54380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019288" y="3328416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自動で解析され、確認・入力画面が表示されます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543800" y="4160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6F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08392" y="4233672"/>
            <a:ext cx="37856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　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AcrobatやDocuWorksでの変換は不要です。PDFをそのまま読み込んでください。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512064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読み込めるもの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説明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Excel（.xlsx/.xlsm）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Acrobat等で変換済みのファイルも読み込み可（従来フロー互換）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テキスト貼り付け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「テキストを貼り付けて読み込む」から貼り付けて解析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作業ファイル（.json）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保存した作業を入力内容ごと復元（→ 4. 途中保存と再開）</a:t>
                      </a:r>
                      <a:endParaRPr lang="en-US" sz="11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4224528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解析結果を確認する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1" descr="shots/02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949440" cy="140369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781812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確認すること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818120" y="17373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工事名がPDFの内容と一致しているか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当初/変更の別が正しいか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工種・種別・細別の件数が極端に少なくないか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818120" y="347472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6F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982712" y="3547872"/>
            <a:ext cx="35112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　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「行を検出できませんでした」と表示された場合は、最終ページ「こんなときは」を参照してください。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6199632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設計積算条件リストの確認・入力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1" descr="shots/03_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680960" cy="60404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8549640" y="1143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画面の見方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549640" y="1600200"/>
            <a:ext cx="3108960" cy="1042416"/>
          </a:xfrm>
          <a:prstGeom prst="roundRect">
            <a:avLst>
              <a:gd name="adj" fmla="val 5263"/>
            </a:avLst>
          </a:prstGeom>
          <a:solidFill>
            <a:srgbClr val="F5F8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705088" y="167335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 ○件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8705088" y="200253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確認・入力が必要な残り件数。0件（緑）になれば完了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549640" y="2788920"/>
            <a:ext cx="3108960" cy="1042416"/>
          </a:xfrm>
          <a:prstGeom prst="roundRect">
            <a:avLst>
              <a:gd name="adj" fmla="val 5263"/>
            </a:avLst>
          </a:prstGeom>
          <a:solidFill>
            <a:srgbClr val="F5F8F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705088" y="286207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残件リスト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705088" y="319125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項目をクリックすると該当行へジャンプ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549640" y="3977640"/>
            <a:ext cx="3108960" cy="1042416"/>
          </a:xfrm>
          <a:prstGeom prst="roundRect">
            <a:avLst>
              <a:gd name="adj" fmla="val 5263"/>
            </a:avLst>
          </a:prstGeom>
          <a:solidFill>
            <a:srgbClr val="F5F8F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705088" y="405079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自動入力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705088" y="43799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内容・根拠には標準値が入力済み。必要な箇所だけ修正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549640" y="5166360"/>
            <a:ext cx="3108960" cy="1042416"/>
          </a:xfrm>
          <a:prstGeom prst="roundRect">
            <a:avLst>
              <a:gd name="adj" fmla="val 5263"/>
            </a:avLst>
          </a:prstGeom>
          <a:solidFill>
            <a:srgbClr val="F5F8F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705088" y="5239512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自動保存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705088" y="556869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入力のたびに保存。閉じても「続きから再開」可能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4224528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色の意味と作業内容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色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意味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する作業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オレンジ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市場単価（WB7〜/WB8〜）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夜間作業の有無を確認し、プルダウンで「○」または「－」を選択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赤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3B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単位・単位数量の不一致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内容を確認し、問題なければ行末の「確認済」にチェック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青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独自歩掛かり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「設計の考え方及び措置」欄に内容を入力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ピンク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登録材料・処分費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処分場・単価の出典を入力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セルの編集方法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20624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「内容」「根拠又は理由」…プルダウンから選択（旧システムと同じ選択肢）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「設計の考え方及び措置」「摘要」「数量(変更)」…セルをクリックして直接入力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夜間○…一括割増率50%の項目には自動で「○」。市場単価の行のみプルダウンで選択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EF6F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13232" y="5696712"/>
            <a:ext cx="10735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　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入力した内容は自動保存され、Excel出力にもそのまま反映されます。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3566160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途中保存と再開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自動保存（何もしなくてOK）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入力のたびにブラウザへ自動保存されます。誤ってページを閉じても、次に開いたときに復元バーが表示され、「続きから再開」で作業を再開できます。</a:t>
            </a:r>
            <a:endParaRPr lang="en-US" sz="1250" dirty="0"/>
          </a:p>
        </p:txBody>
      </p:sp>
      <p:pic>
        <p:nvPicPr>
          <p:cNvPr id="8" name="Image 1" descr="shots/07_re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5669280" cy="37856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6675120" y="1097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作業ファイルの保存（推奨）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675120" y="1600200"/>
            <a:ext cx="347472" cy="347472"/>
          </a:xfrm>
          <a:prstGeom prst="ellipse">
            <a:avLst/>
          </a:prstGeom>
          <a:solidFill>
            <a:srgbClr val="04529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67512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50608" y="1545336"/>
            <a:ext cx="4462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「作業ファイルを保存（.json）」を押すと案件の作業ファイルがダウンロードされます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675120" y="2514600"/>
            <a:ext cx="347472" cy="347472"/>
          </a:xfrm>
          <a:prstGeom prst="ellipse">
            <a:avLst/>
          </a:prstGeom>
          <a:solidFill>
            <a:srgbClr val="04529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675120" y="2514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150608" y="2459736"/>
            <a:ext cx="4462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再開するときは、作業ファイルを読み込み枠にドラッグ＆ドロップ。入力内容ごと復元されます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675120" y="3657600"/>
            <a:ext cx="4937760" cy="1005840"/>
          </a:xfrm>
          <a:prstGeom prst="roundRect">
            <a:avLst>
              <a:gd name="adj" fmla="val 5455"/>
            </a:avLst>
          </a:prstGeom>
          <a:solidFill>
            <a:srgbClr val="EEF6FD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39712" y="3730752"/>
            <a:ext cx="46085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　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自動保存はパソコン・ブラウザ単位です。案件フォルダへの作業ファイル保存をお勧めします。別PC・別担当者への引き継ぎにも使えます。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5212080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Excel帳票を出力する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「Excel帳票を出力」ボタンを押すと、次の4シートを含むExcelファイルがダウンロードされます。画面上で入力・修正した内容はすべて反映されています。</a:t>
            </a:r>
            <a:endParaRPr lang="en-US" sz="1350" dirty="0"/>
          </a:p>
        </p:txBody>
      </p:sp>
      <p:pic>
        <p:nvPicPr>
          <p:cNvPr id="7" name="Image 1" descr="shots/06_butt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400800" cy="22768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BBBBBB">
                <a:alpha val="50000"/>
              </a:srgbClr>
            </a:outerShdw>
          </a:effectLst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シート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設計積算条件リスト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旧Ver2.2.2と同じ様式・色分け・プルダウン付き。画面での入力を反映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数量総括表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工事区分〜細別の階層・規格・数量を転記。変更工事は当初/変更/増減の列構成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交通誘導員集計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交通誘導警備員の計上箇所の一覧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チェック結果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単位不一致などの自動チェック指摘の一覧（照査記録に利用可能）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ファイル名：「積算ツール出力_（工事名）.xlsx」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akashima-yuto-site/d68be841-4a50-5410-afb9-fdf52bb655ee/scratchpad/sekisan/kcm_str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658368"/>
            <a:ext cx="6528816" cy="292608"/>
          </a:xfrm>
          <a:prstGeom prst="rect">
            <a:avLst/>
          </a:prstGeom>
          <a:solidFill>
            <a:srgbClr val="E3EA61">
              <a:alpha val="7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43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こんなときは（トラブルシューティング）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症状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4529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対処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PDFを読み込んでも行を検出できない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「鏡ページ無し・STまで」で印刷したPDFか確認してください。スキャンPDF（紙を読み取ったもの）は解析できません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工事名が「取得できず」と表示される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帳票は出力できます。Excel出力後に工事名欄を直接修正してください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数量や階層がPDFと合わない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該当のPDFを担当（カイカ）までご共有ください。解析ルールを改善します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前回の作業が復元されない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自動保存はパソコン・ブラウザ単位です。別PCで作業した場合は作業ファイル(.json)を読み込んでください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Excelを開くと保護ビューになる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43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ダウンロードしたファイルのため表示されることがあります。「編集を有効にする」を押してください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035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529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その他のお問い合わせ：株式会社カイカ（高嶌）まで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2026-09-06T05:13:56Z</dcterms:created>
  <dcterms:modified xsi:type="dcterms:W3CDTF">2026-09-06T05:13:56Z</dcterms:modified>
</cp:coreProperties>
</file>