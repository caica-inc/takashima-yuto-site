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pic>
        <p:nvPicPr>
          <p:cNvPr id="3" name="Image 1" descr="/tmp/claude-0/-home-user-takashima-yuto-site/d68be841-4a50-5410-afb9-fdf52bb655ee/scratchpad/sekisan/kcm_logo_placeh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960120" cy="40325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45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SEKISAN SUPPORT TOOL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475488" y="3127248"/>
            <a:ext cx="5852160" cy="420624"/>
          </a:xfrm>
          <a:prstGeom prst="rect">
            <a:avLst/>
          </a:prstGeom>
          <a:solidFill>
            <a:srgbClr val="E3EA61">
              <a:alpha val="75000"/>
            </a:srgbClr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548640" y="24688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KCM積算ツール</a:t>
            </a:r>
            <a:endParaRPr lang="en-US" sz="5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積算業務支援システム　ご説明資料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4297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新土木工事積算システムの入力データリストから、設計積算条件リスト・数量総括表などの帳票を自動作成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5623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関東建設マネジメント株式会社 御中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株式会社カイカ　　2026年9月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背景と経緯　―　4年越しの構想を形に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04529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1417320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〜2022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606040" y="1417320"/>
            <a:ext cx="9052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長野支店・矢野氏がExcelマクロ製の積算支援システムを開発、支店内で運用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313432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04529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313432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2022年9月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2313432"/>
            <a:ext cx="9052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企画部・小山課長より「全社での本格運用に向けたシステム更新」の相談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209544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B8504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3209544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2022年11月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3209544"/>
            <a:ext cx="9052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カイカ常駐SEが検証。AcrobatのPDF→Excel変換の崩れが「どのバージョンでも回避不能」と判明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48640" y="4105656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B850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105656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2023年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4105656"/>
            <a:ext cx="9052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Teamsで対応協議（DocuWorks変換の検証など）。改修に着手するも完成に至らず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48640" y="5001768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04529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5001768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2026年9月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606040" y="5001768"/>
            <a:ext cx="9052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ブラウザ完結型ツールとして再構築（本資料）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ポイント：ツール本体の完成度ではなく、「PDF→Excel変換」という入口が外部ソフト依存だったことが未完成の根本原因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従来フローの課題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7190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 Acrobat 11 依存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1284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PDF→Excel変換の結果がAcrobatのバージョン・環境で変化。PC入替やソフト更新のたびに動作が不安定に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63640" y="1554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92240" y="17190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 DocuWorks変換の崩れ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21284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DocuWorks経由の変換では表のレイアウトが崩れ、元の表と同じ形で抜き出せない（2023年検証）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395935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 マクロ配布の負担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45312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Excelマクロ(.xlsm)はセキュリティ警告・バージョン差異・配布更新の管理が必要で、全支店展開の障壁に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63640" y="37947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92240" y="395935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 確認作業が目視頼み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445312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色付きセルを目で探して手入力。確認漏れ・入力漏れに気づきにくい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帳票作成そのものより、「データの入口」と「配布・確認」の仕組みが課題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解決アプローチ　―　作業はブラウザ、納品物はExcel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従来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CEFF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新土積システム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PDF印刷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2523744" y="2084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83464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F3D9D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34640" y="1828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Acrobat 11で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Excel変換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809744" y="2084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12064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F3D9D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120640" y="1828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編集システム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(マクロ)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095744" y="2084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0664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CEFF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406640" y="1828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帳票マクロ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で作成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9381744" y="2084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9264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CEFF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692640" y="1828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Excel上で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目視確認・手入力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834640" y="2743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環境依存で不安定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本ツール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79476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ECEFF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新土積システム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PDF印刷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118104" y="405079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429000" y="379476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D6E8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429000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ブラウザに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ドラッグ＆ドロップ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998464" y="405079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309360" y="379476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D6E8F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09360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画面上で確認・入力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（残件を自動表示）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878824" y="405079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89720" y="379476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D6E8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189720" y="3794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Excel帳票を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一括出力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822960" y="507492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</a:t>
            </a:r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PDFをブラウザで直接解析 ― Acrobat・DocuWorks・マクロが一切不要に</a:t>
            </a:r>
            <a:endParaRPr lang="en-US" sz="145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5550408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</a:t>
            </a:r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インストール不要 ― URLを開くだけ。全支店に配布作業なしで展開可能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6025896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</a:t>
            </a:r>
            <a:pPr indent="0" marL="0">
              <a:buNone/>
            </a:pPr>
            <a:r>
              <a:rPr lang="en-US" sz="14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最終帳票は従来どおりExcel ― 発注者への提出・既存業務との互換を維持</a:t>
            </a:r>
            <a:endParaRPr lang="en-US" sz="1450" dirty="0"/>
          </a:p>
        </p:txBody>
      </p:sp>
      <p:sp>
        <p:nvSpPr>
          <p:cNvPr id="35" name="Text 3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画面イメージ　―　設計積算条件リストの確認・入力</a:t>
            </a:r>
            <a:endParaRPr lang="en-US" sz="2800" dirty="0"/>
          </a:p>
        </p:txBody>
      </p:sp>
      <p:pic>
        <p:nvPicPr>
          <p:cNvPr id="4" name="Image 1" descr="shots/03_edi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863840" cy="618431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BBBBBB">
                <a:alpha val="50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8641080" y="1417320"/>
            <a:ext cx="3017520" cy="1115568"/>
          </a:xfrm>
          <a:prstGeom prst="roundRect">
            <a:avLst>
              <a:gd name="adj" fmla="val 4918"/>
            </a:avLst>
          </a:prstGeom>
          <a:solidFill>
            <a:srgbClr val="F4F6F8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796528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残件カウンタ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8796528" y="183794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要確認・要入力の件数を常時表示。クリックで該当行へジャンプ。0件になれば作業完了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8641080" y="2697480"/>
            <a:ext cx="3017520" cy="1115568"/>
          </a:xfrm>
          <a:prstGeom prst="roundRect">
            <a:avLst>
              <a:gd name="adj" fmla="val 4918"/>
            </a:avLst>
          </a:prstGeom>
          <a:solidFill>
            <a:srgbClr val="F4F6F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796528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旧システムの色分けを踏襲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796528" y="31181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オレンジ=市場単価／赤=不一致／青=独自歩掛／ピンク=処分費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641080" y="3977640"/>
            <a:ext cx="3017520" cy="1115568"/>
          </a:xfrm>
          <a:prstGeom prst="roundRect">
            <a:avLst>
              <a:gd name="adj" fmla="val 4918"/>
            </a:avLst>
          </a:prstGeom>
          <a:solidFill>
            <a:srgbClr val="F4F6F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796528" y="4069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プルダウン入力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796528" y="439826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内容・根拠又は理由は旧Ver2.2.2と同じ選択肢から選ぶだけ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641080" y="5257800"/>
            <a:ext cx="3017520" cy="1115568"/>
          </a:xfrm>
          <a:prstGeom prst="roundRect">
            <a:avLst>
              <a:gd name="adj" fmla="val 4918"/>
            </a:avLst>
          </a:prstGeom>
          <a:solidFill>
            <a:srgbClr val="F4F6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796528" y="5349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自動保存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8796528" y="567842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入力のたびに保存。誤って閉じても「続きから再開」できる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出力される帳票（Excel・ワンクリックで一括出力）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" cy="960120"/>
          </a:xfrm>
          <a:prstGeom prst="roundRect">
            <a:avLst>
              <a:gd name="adj" fmla="val 10714"/>
            </a:avLst>
          </a:prstGeom>
          <a:solidFill>
            <a:srgbClr val="F4B08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5840" y="148132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設計積算条件リスト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90195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内容・根拠又は理由を自動入力（「積算基準書(赤本)どおり」「独自歩掛」等）。夜間○は一括割増率50%で自動判定。画面での修正がそのまま反映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651760"/>
            <a:ext cx="256032" cy="960120"/>
          </a:xfrm>
          <a:prstGeom prst="roundRect">
            <a:avLst>
              <a:gd name="adj" fmla="val 10714"/>
            </a:avLst>
          </a:prstGeom>
          <a:solidFill>
            <a:srgbClr val="9DC3E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267004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数量総括表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0906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工事区分〜細別の階層・規格・数量を自動転記。変更工事は当初/変更/増減の列構成に対応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256032" cy="960120"/>
          </a:xfrm>
          <a:prstGeom prst="roundRect">
            <a:avLst>
              <a:gd name="adj" fmla="val 10714"/>
            </a:avLst>
          </a:prstGeom>
          <a:solidFill>
            <a:srgbClr val="F8CB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85876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交通誘導員集計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2793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交通誘導警備員の計上箇所を工種別に一覧化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029200"/>
            <a:ext cx="256032" cy="960120"/>
          </a:xfrm>
          <a:prstGeom prst="roundRect">
            <a:avLst>
              <a:gd name="adj" fmla="val 10714"/>
            </a:avLst>
          </a:prstGeom>
          <a:solidFill>
            <a:srgbClr val="FF9B9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5840" y="504748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チェック結果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546811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単位不一致・単位数量不一致などの自動チェック指摘を一覧化。照査記録としても利用可能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色分け・プルダウン付きの旧Ver2.2.2様式を踏襲。既存の照査・提出フローにそのまま載せられます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セキュリティと動作環境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755648"/>
            <a:ext cx="365760" cy="365760"/>
          </a:xfrm>
          <a:prstGeom prst="ellipse">
            <a:avLst/>
          </a:prstGeom>
          <a:solidFill>
            <a:srgbClr val="04529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73736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端末内で完結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2128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読み込んだ積算データはブラウザ内でのみ処理され、外部サーバーへ一切送信されません。官公庁積算データの取り扱いに配慮した設計です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1755648"/>
            <a:ext cx="365760" cy="365760"/>
          </a:xfrm>
          <a:prstGeom prst="ellipse">
            <a:avLst/>
          </a:prstGeom>
          <a:solidFill>
            <a:srgbClr val="04529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92240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173736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インストール不要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2128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必要なのはブラウザ（Edge / Chrome）のみ。Acrobat・DocuWorks・Excelマクロは不要。ライブラリも同梱済みでオフライン動作可能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77240" y="4041648"/>
            <a:ext cx="365760" cy="365760"/>
          </a:xfrm>
          <a:prstGeom prst="ellipse">
            <a:avLst/>
          </a:prstGeom>
          <a:solidFill>
            <a:srgbClr val="04529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02336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配置も簡単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44988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HTMLファイル一式を社内サーバーやSharePointに置くだけで全支店から利用可能。更新はファイル差し替えのみ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63640" y="3840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76200" dist="25400" dir="5400000">
              <a:srgbClr val="CCCCCC">
                <a:alpha val="5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92240" y="4041648"/>
            <a:ext cx="365760" cy="365760"/>
          </a:xfrm>
          <a:prstGeom prst="ellipse">
            <a:avLst/>
          </a:prstGeom>
          <a:solidFill>
            <a:srgbClr val="04529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922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402336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途中保存・引き継ぎ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44988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作業は自動保存。作業ファイル(.json)として保存すれば、別PC・別担当者への引き継ぎも可能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akashima-yuto-site/d68be841-4a50-5410-afb9-fdf52bb655ee/scratchpad/sekisan/kcm_str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656832"/>
            <a:ext cx="1218895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検証状況と導入ステップ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検証済み（実データ：R2国道18号上田BP国分地区改良工事）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細別44・1次単価42・構成要素289行の解析と帳票出力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市場単価13件、単位不一致7件の自動検出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編集画面・残件カウント・自動保存・作業ファイル復元・Excel反映（ブラウザ自動テスト合格）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導入までのステップ（ご提案）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4529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41330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E9F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622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実PDFでの検証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88289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9E9F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新土積システムの実PDF（鏡なし・STまで印刷）を1件ご提供いただき、読み込みを最終検証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3977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63440" y="41330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44622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試行運用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488289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本社積算室・長野支店で実案件に並行使用し、フィードバックを反映（工程表等の追加帳票もこの段階で）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21040" y="3977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49640" y="41330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549640" y="44622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529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全社展開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488289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C243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社内サーバー／SharePointへ配置し、各支店へ展開。操作マニュアルを配布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まずはSTEP 1のテスト用PDFのご提供をお願いいたします。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2026-09-06T05:13:55Z</dcterms:created>
  <dcterms:modified xsi:type="dcterms:W3CDTF">2026-09-06T05:13:55Z</dcterms:modified>
</cp:coreProperties>
</file>